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69"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94"/>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8A87A34-81AB-432B-8DAE-1953F412C126}" type="datetimeFigureOut">
              <a:rPr lang="en-US" smtClean="0"/>
              <a:t>11/5/19</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995581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9253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89054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9720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87966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11/5/19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59192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11/5/19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4972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5530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0650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78117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02551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565810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90217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57775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04330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46436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3566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11/5/19</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32128584"/>
      </p:ext>
    </p:extLst>
  </p:cSld>
  <p:clrMap bg1="dk1" tx1="lt1" bg2="dk2" tx2="lt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5" r:id="rId16"/>
    <p:sldLayoutId id="214748398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A37827-7E64-5442-94DD-C34831DAAAE6}"/>
              </a:ext>
            </a:extLst>
          </p:cNvPr>
          <p:cNvSpPr txBox="1"/>
          <p:nvPr/>
        </p:nvSpPr>
        <p:spPr>
          <a:xfrm>
            <a:off x="1252330" y="636104"/>
            <a:ext cx="10495722" cy="5355312"/>
          </a:xfrm>
          <a:prstGeom prst="rect">
            <a:avLst/>
          </a:prstGeom>
          <a:noFill/>
        </p:spPr>
        <p:txBody>
          <a:bodyPr wrap="square" rtlCol="0">
            <a:spAutoFit/>
          </a:bodyPr>
          <a:lstStyle/>
          <a:p>
            <a:pPr marL="342900" indent="-342900">
              <a:buAutoNum type="arabicPeriod"/>
            </a:pPr>
            <a:r>
              <a:rPr lang="en-US" dirty="0"/>
              <a:t>Project Background</a:t>
            </a:r>
          </a:p>
          <a:p>
            <a:pPr marL="800100" lvl="1" indent="-342900">
              <a:buAutoNum type="arabicPeriod"/>
            </a:pPr>
            <a:r>
              <a:rPr lang="en-US" dirty="0"/>
              <a:t>Architectural Requirements</a:t>
            </a:r>
          </a:p>
          <a:p>
            <a:pPr marL="800100" lvl="1" indent="-342900">
              <a:buAutoNum type="arabicPeriod"/>
            </a:pPr>
            <a:r>
              <a:rPr lang="en-US" dirty="0"/>
              <a:t>Electrical Engineering Specifications</a:t>
            </a:r>
          </a:p>
          <a:p>
            <a:pPr marL="800100" lvl="1" indent="-342900">
              <a:buAutoNum type="arabicPeriod"/>
            </a:pPr>
            <a:r>
              <a:rPr lang="en-US" dirty="0"/>
              <a:t>Address current issues of concern</a:t>
            </a:r>
          </a:p>
          <a:p>
            <a:pPr marL="1257300" lvl="2" indent="-342900">
              <a:buAutoNum type="arabicPeriod"/>
            </a:pPr>
            <a:r>
              <a:rPr lang="en-US" dirty="0"/>
              <a:t>Delivery of core services relative to current technologies in the industry</a:t>
            </a:r>
          </a:p>
          <a:p>
            <a:pPr marL="1257300" lvl="2" indent="-342900">
              <a:buAutoNum type="arabicPeriod"/>
            </a:pPr>
            <a:r>
              <a:rPr lang="en-US" dirty="0"/>
              <a:t>Enrollment stability </a:t>
            </a:r>
          </a:p>
          <a:p>
            <a:pPr marL="1257300" lvl="2" indent="-342900">
              <a:buAutoNum type="arabicPeriod"/>
            </a:pPr>
            <a:r>
              <a:rPr lang="en-US" dirty="0"/>
              <a:t>Security – physical and cyber</a:t>
            </a:r>
          </a:p>
          <a:p>
            <a:pPr marL="1257300" lvl="2" indent="-342900">
              <a:buAutoNum type="arabicPeriod"/>
            </a:pPr>
            <a:r>
              <a:rPr lang="en-US" dirty="0"/>
              <a:t>Coherent technological eco-system  </a:t>
            </a:r>
          </a:p>
          <a:p>
            <a:pPr marL="800100" lvl="1" indent="-342900">
              <a:buAutoNum type="arabicPeriod"/>
            </a:pPr>
            <a:r>
              <a:rPr lang="en-US" dirty="0"/>
              <a:t>Primary Objectives</a:t>
            </a:r>
          </a:p>
          <a:p>
            <a:pPr marL="1257300" lvl="2" indent="-342900">
              <a:buAutoNum type="arabicPeriod"/>
            </a:pPr>
            <a:r>
              <a:rPr lang="en-US" dirty="0"/>
              <a:t>Provide a technological framework for LMS</a:t>
            </a:r>
          </a:p>
          <a:p>
            <a:pPr marL="1257300" lvl="2" indent="-342900">
              <a:buAutoNum type="arabicPeriod"/>
            </a:pPr>
            <a:r>
              <a:rPr lang="en-US" dirty="0"/>
              <a:t>Promote a solid management ethic for the digital enterprise</a:t>
            </a:r>
          </a:p>
          <a:p>
            <a:pPr marL="1257300" lvl="2" indent="-342900">
              <a:buAutoNum type="arabicPeriod"/>
            </a:pPr>
            <a:r>
              <a:rPr lang="en-US" dirty="0"/>
              <a:t>Integrate mobile artifacts into the learning matrix</a:t>
            </a:r>
          </a:p>
          <a:p>
            <a:pPr marL="1257300" lvl="2" indent="-342900">
              <a:buAutoNum type="arabicPeriod"/>
            </a:pPr>
            <a:r>
              <a:rPr lang="en-US" dirty="0"/>
              <a:t>Effect total adoption of current learning strategies by instructors and administration</a:t>
            </a:r>
          </a:p>
          <a:p>
            <a:pPr marL="1257300" lvl="2" indent="-342900">
              <a:buAutoNum type="arabicPeriod"/>
            </a:pPr>
            <a:r>
              <a:rPr lang="en-US" dirty="0"/>
              <a:t>Solicit total support from shareholders for the vision of an electronic learning eco-system</a:t>
            </a:r>
          </a:p>
          <a:p>
            <a:pPr marL="1257300" lvl="2" indent="-342900">
              <a:buAutoNum type="arabicPeriod"/>
            </a:pPr>
            <a:r>
              <a:rPr lang="en-US" dirty="0"/>
              <a:t>Utilize outside funding sources such as </a:t>
            </a:r>
            <a:r>
              <a:rPr lang="en-US" dirty="0" err="1"/>
              <a:t>eRate</a:t>
            </a:r>
            <a:r>
              <a:rPr lang="en-US" dirty="0"/>
              <a:t> discounting to underwrite artifacts within the infrastructure</a:t>
            </a:r>
          </a:p>
          <a:p>
            <a:pPr marL="1257300" lvl="2" indent="-342900">
              <a:buAutoNum type="arabicPeriod"/>
            </a:pPr>
            <a:r>
              <a:rPr lang="en-US" dirty="0"/>
              <a:t>Add a technological requirement to the prime directive (Mission statement)</a:t>
            </a:r>
          </a:p>
          <a:p>
            <a:pPr marL="1257300" lvl="2" indent="-342900">
              <a:buAutoNum type="arabicPeriod"/>
            </a:pPr>
            <a:r>
              <a:rPr lang="en-US" dirty="0"/>
              <a:t>Implement Distance </a:t>
            </a:r>
            <a:r>
              <a:rPr lang="en-US"/>
              <a:t>Learning for G9 – G12</a:t>
            </a:r>
            <a:endParaRPr lang="en-US" dirty="0"/>
          </a:p>
          <a:p>
            <a:pPr lvl="2"/>
            <a:endParaRPr lang="en-US" dirty="0"/>
          </a:p>
        </p:txBody>
      </p:sp>
    </p:spTree>
    <p:extLst>
      <p:ext uri="{BB962C8B-B14F-4D97-AF65-F5344CB8AC3E}">
        <p14:creationId xmlns:p14="http://schemas.microsoft.com/office/powerpoint/2010/main" val="170985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A3629-E1D7-EB42-B841-CD6228AB40E3}"/>
              </a:ext>
            </a:extLst>
          </p:cNvPr>
          <p:cNvSpPr>
            <a:spLocks noGrp="1"/>
          </p:cNvSpPr>
          <p:nvPr>
            <p:ph type="title"/>
          </p:nvPr>
        </p:nvSpPr>
        <p:spPr>
          <a:xfrm>
            <a:off x="685801" y="609601"/>
            <a:ext cx="10131425" cy="622852"/>
          </a:xfrm>
        </p:spPr>
        <p:txBody>
          <a:bodyPr>
            <a:normAutofit fontScale="90000"/>
          </a:bodyPr>
          <a:lstStyle/>
          <a:p>
            <a:pPr algn="ctr"/>
            <a:r>
              <a:rPr lang="en-US" dirty="0"/>
              <a:t>Action Items</a:t>
            </a:r>
          </a:p>
        </p:txBody>
      </p:sp>
      <p:sp>
        <p:nvSpPr>
          <p:cNvPr id="3" name="Content Placeholder 2">
            <a:extLst>
              <a:ext uri="{FF2B5EF4-FFF2-40B4-BE49-F238E27FC236}">
                <a16:creationId xmlns:a16="http://schemas.microsoft.com/office/drawing/2014/main" id="{697FA683-57EE-B843-98C4-9F624520E4DE}"/>
              </a:ext>
            </a:extLst>
          </p:cNvPr>
          <p:cNvSpPr>
            <a:spLocks noGrp="1"/>
          </p:cNvSpPr>
          <p:nvPr>
            <p:ph idx="1"/>
          </p:nvPr>
        </p:nvSpPr>
        <p:spPr/>
        <p:txBody>
          <a:bodyPr/>
          <a:lstStyle/>
          <a:p>
            <a:r>
              <a:rPr lang="en-US" dirty="0"/>
              <a:t>Infrastructure Budget Review</a:t>
            </a:r>
          </a:p>
          <a:p>
            <a:r>
              <a:rPr lang="en-US" dirty="0"/>
              <a:t>Current Environment Assessment Report and recommendations</a:t>
            </a:r>
          </a:p>
          <a:p>
            <a:r>
              <a:rPr lang="en-US" dirty="0"/>
              <a:t>Technology Readiness Assessment</a:t>
            </a:r>
          </a:p>
          <a:p>
            <a:r>
              <a:rPr lang="en-US" dirty="0"/>
              <a:t>Breakout sessions scheduled</a:t>
            </a:r>
          </a:p>
          <a:p>
            <a:r>
              <a:rPr lang="en-US" dirty="0"/>
              <a:t>Grant funding assessment</a:t>
            </a:r>
          </a:p>
          <a:p>
            <a:r>
              <a:rPr lang="en-US" dirty="0"/>
              <a:t>Public Relations and Messaging</a:t>
            </a:r>
          </a:p>
          <a:p>
            <a:r>
              <a:rPr lang="en-US" dirty="0"/>
              <a:t>Migration Strategies and scheduling</a:t>
            </a:r>
          </a:p>
          <a:p>
            <a:r>
              <a:rPr lang="en-US" dirty="0"/>
              <a:t>Rollout Scrum</a:t>
            </a:r>
          </a:p>
          <a:p>
            <a:endParaRPr lang="en-US" dirty="0"/>
          </a:p>
        </p:txBody>
      </p:sp>
    </p:spTree>
    <p:extLst>
      <p:ext uri="{BB962C8B-B14F-4D97-AF65-F5344CB8AC3E}">
        <p14:creationId xmlns:p14="http://schemas.microsoft.com/office/powerpoint/2010/main" val="750673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683C9-F523-714A-AA43-1D69ECF674A0}"/>
              </a:ext>
            </a:extLst>
          </p:cNvPr>
          <p:cNvSpPr>
            <a:spLocks noGrp="1"/>
          </p:cNvSpPr>
          <p:nvPr>
            <p:ph type="title"/>
          </p:nvPr>
        </p:nvSpPr>
        <p:spPr>
          <a:xfrm>
            <a:off x="685801" y="609601"/>
            <a:ext cx="10131425" cy="642730"/>
          </a:xfrm>
        </p:spPr>
        <p:txBody>
          <a:bodyPr/>
          <a:lstStyle/>
          <a:p>
            <a:pPr algn="ctr"/>
            <a:r>
              <a:rPr lang="en-US" dirty="0"/>
              <a:t>Technology Readiness Assessment </a:t>
            </a:r>
          </a:p>
        </p:txBody>
      </p:sp>
      <p:sp>
        <p:nvSpPr>
          <p:cNvPr id="3" name="Content Placeholder 2">
            <a:extLst>
              <a:ext uri="{FF2B5EF4-FFF2-40B4-BE49-F238E27FC236}">
                <a16:creationId xmlns:a16="http://schemas.microsoft.com/office/drawing/2014/main" id="{6BABBC25-1BFD-5947-920F-40E1CC5B5B2D}"/>
              </a:ext>
            </a:extLst>
          </p:cNvPr>
          <p:cNvSpPr>
            <a:spLocks noGrp="1"/>
          </p:cNvSpPr>
          <p:nvPr>
            <p:ph idx="1"/>
          </p:nvPr>
        </p:nvSpPr>
        <p:spPr>
          <a:xfrm>
            <a:off x="685801" y="1560443"/>
            <a:ext cx="10131425" cy="5227983"/>
          </a:xfrm>
        </p:spPr>
        <p:txBody>
          <a:bodyPr>
            <a:normAutofit fontScale="85000" lnSpcReduction="10000"/>
          </a:bodyPr>
          <a:lstStyle/>
          <a:p>
            <a:r>
              <a:rPr lang="en-US" dirty="0"/>
              <a:t>What percent of computerization is used for Grades 9. 10. 11. 12</a:t>
            </a:r>
          </a:p>
          <a:p>
            <a:r>
              <a:rPr lang="en-US" dirty="0"/>
              <a:t>How many subjects utilize electronic text books and in what grades 100%, 80%, 50$, 30%, 0%</a:t>
            </a:r>
          </a:p>
          <a:p>
            <a:r>
              <a:rPr lang="en-US" dirty="0"/>
              <a:t>Are computerized grading systems used, if so, which system, and are parents privy to the information within FERPA guidelines</a:t>
            </a:r>
          </a:p>
          <a:p>
            <a:r>
              <a:rPr lang="en-US" dirty="0"/>
              <a:t>IS a learning portal available on the school website?</a:t>
            </a:r>
          </a:p>
          <a:p>
            <a:r>
              <a:rPr lang="en-US" dirty="0"/>
              <a:t>Are any Learning Management systems currently in use: If so, which subjects are taught and percentage of content</a:t>
            </a:r>
          </a:p>
          <a:p>
            <a:r>
              <a:rPr lang="en-US" dirty="0"/>
              <a:t>Which teacher(s) currently uses an LMS in their classroom  and who defines/manages/quality assures the content</a:t>
            </a:r>
          </a:p>
          <a:p>
            <a:r>
              <a:rPr lang="en-US" dirty="0"/>
              <a:t>Do teachers routinely use Microsoft Office  apps or other computer applications in the deliver y of services</a:t>
            </a:r>
          </a:p>
          <a:p>
            <a:r>
              <a:rPr lang="en-US" dirty="0"/>
              <a:t>Are students required to submit coursework using  Microsoft office or other digital tools</a:t>
            </a:r>
          </a:p>
          <a:p>
            <a:r>
              <a:rPr lang="en-US" dirty="0"/>
              <a:t>Are STEM strategies currently in play? If so, who is responsible for curriculum alignment. What is the percentage of STEM integration per grade and are the measurable objectives and measuring systems in place </a:t>
            </a:r>
          </a:p>
          <a:p>
            <a:r>
              <a:rPr lang="en-US" dirty="0"/>
              <a:t>Are formalized post secondary vocational preparatory systems in place</a:t>
            </a:r>
          </a:p>
          <a:p>
            <a:r>
              <a:rPr lang="en-US" dirty="0"/>
              <a:t>Are formalized college preparatory systems in place</a:t>
            </a:r>
          </a:p>
          <a:p>
            <a:r>
              <a:rPr lang="en-US" dirty="0"/>
              <a:t>What online tools are utilized for ACT/SAT preparation or simulations</a:t>
            </a:r>
          </a:p>
          <a:p>
            <a:r>
              <a:rPr lang="en-US" dirty="0"/>
              <a:t>What system (s) is/are used to assess which professional track a student is best suited</a:t>
            </a:r>
          </a:p>
          <a:p>
            <a:r>
              <a:rPr lang="en-US" dirty="0"/>
              <a:t>Are there structured remediation strategies aligned with  the delivery of services,</a:t>
            </a:r>
          </a:p>
          <a:p>
            <a:endParaRPr lang="en-US" dirty="0"/>
          </a:p>
          <a:p>
            <a:pPr lvl="1"/>
            <a:endParaRPr lang="en-US" dirty="0"/>
          </a:p>
        </p:txBody>
      </p:sp>
    </p:spTree>
    <p:extLst>
      <p:ext uri="{BB962C8B-B14F-4D97-AF65-F5344CB8AC3E}">
        <p14:creationId xmlns:p14="http://schemas.microsoft.com/office/powerpoint/2010/main" val="35773618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{C47DDD42-2E96-AC47-AA3E-D5E2ADF60A0D}tf10001058</Template>
  <TotalTime>862</TotalTime>
  <Words>382</Words>
  <Application>Microsoft Macintosh PowerPoint</Application>
  <PresentationFormat>Widescreen</PresentationFormat>
  <Paragraphs>41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Celestial</vt:lpstr>
      <vt:lpstr>PowerPoint Presentation</vt:lpstr>
      <vt:lpstr>Action Items</vt:lpstr>
      <vt:lpstr>Technology Readiness Assessment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Wilson</dc:creator>
  <cp:lastModifiedBy>Jim Wilson</cp:lastModifiedBy>
  <cp:revision>14</cp:revision>
  <dcterms:created xsi:type="dcterms:W3CDTF">2019-11-05T16:09:14Z</dcterms:created>
  <dcterms:modified xsi:type="dcterms:W3CDTF">2019-11-06T06:31:56Z</dcterms:modified>
</cp:coreProperties>
</file>